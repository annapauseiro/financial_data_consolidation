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walks through the multi-office consolidation portfolio project: why it exists, how the data is modeled, the SQL behind it, the charts, and the Excel deliverable. It was built to answer a specific brief — accounting, audit, controlling or FP&amp;A roles that call out reconciliations, month-end close and consolidation, SQL joins/aggregations/window functions/CTEs, advanced Excel with Power Query, and data modeling with grain and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5C1626"/>
              </a:gs>
              <a:gs pos="38000">
                <a:srgbClr val="4A1220"/>
              </a:gs>
              <a:gs pos="72000">
                <a:srgbClr val="2A0A14"/>
              </a:gs>
              <a:gs pos="100000">
                <a:srgbClr val="170509"/>
              </a:gs>
            </a:gsLst>
            <a:path path="circle">
              <a:fillToRect l="50000" t="24000" r="50000" b="76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12800" y="812800"/>
            <a:ext cx="10566400" cy="391120"/>
          </a:xfrm>
          <a:prstGeom prst="roundRect">
            <a:avLst>
              <a:gd name="adj" fmla="val 50000"/>
            </a:avLst>
          </a:prstGeom>
          <a:solidFill>
            <a:srgbClr val="D9A94E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901700"/>
            <a:ext cx="105171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180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FINANCE &amp; CONTROLLING PORTFOLIO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1457920"/>
            <a:ext cx="9810750" cy="1572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90"/>
              </a:lnSpc>
              <a:buNone/>
            </a:pPr>
            <a:r>
              <a:rPr lang="en-US" sz="5800" b="1" spc="-100" kern="0" dirty="0">
                <a:solidFill>
                  <a:srgbClr val="F7ED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Pauseiro &amp; Vance Legal Group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812800" y="3106341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dirty="0">
                <a:solidFill>
                  <a:srgbClr val="D9A9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Multi-Office Consolidation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15975" y="4016375"/>
            <a:ext cx="3414167" cy="1205161"/>
          </a:xfrm>
          <a:prstGeom prst="roundRect">
            <a:avLst>
              <a:gd name="adj" fmla="val 8167"/>
            </a:avLst>
          </a:prstGeom>
          <a:solidFill>
            <a:srgbClr val="4A1220"/>
          </a:solidFill>
          <a:ln w="6350">
            <a:solidFill>
              <a:srgbClr val="5C3540"/>
            </a:solidFill>
            <a:prstDash val="solid"/>
          </a:ln>
        </p:spPr>
      </p:sp>
      <p:pic>
        <p:nvPicPr>
          <p:cNvPr id="8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950" y="419735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950" y="4502150"/>
            <a:ext cx="314378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ED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96950" y="4827240"/>
            <a:ext cx="3143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8F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Joins, CTEs &amp; window functions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8892" y="4016375"/>
            <a:ext cx="3414216" cy="1205161"/>
          </a:xfrm>
          <a:prstGeom prst="roundRect">
            <a:avLst>
              <a:gd name="adj" fmla="val 8167"/>
            </a:avLst>
          </a:prstGeom>
          <a:solidFill>
            <a:srgbClr val="4A1220"/>
          </a:solidFill>
          <a:ln w="6350">
            <a:solidFill>
              <a:srgbClr val="5C3540"/>
            </a:solidFill>
            <a:prstDash val="solid"/>
          </a:ln>
        </p:spPr>
      </p:sp>
      <p:pic>
        <p:nvPicPr>
          <p:cNvPr id="12" name="Image 1" descr="Char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69867" y="419735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9867" y="4502150"/>
            <a:ext cx="314383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ED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Advanced Excel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69867" y="4827240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8F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SUMIFS, tables &amp; live dashboards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61858" y="4016375"/>
            <a:ext cx="3414167" cy="1205161"/>
          </a:xfrm>
          <a:prstGeom prst="roundRect">
            <a:avLst>
              <a:gd name="adj" fmla="val 8167"/>
            </a:avLst>
          </a:prstGeom>
          <a:solidFill>
            <a:srgbClr val="4A1220"/>
          </a:solidFill>
          <a:ln w="6350">
            <a:solidFill>
              <a:srgbClr val="5C3540"/>
            </a:solidFill>
            <a:prstDash val="solid"/>
          </a:ln>
        </p:spPr>
      </p:sp>
      <p:pic>
        <p:nvPicPr>
          <p:cNvPr id="16" name="Image 2" descr="Databa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42833" y="419735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42833" y="4502150"/>
            <a:ext cx="314378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ED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Power Query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42833" y="4827240"/>
            <a:ext cx="3143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8F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ETL merges, documented M code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2800" y="5791200"/>
            <a:ext cx="406400" cy="12700"/>
          </a:xfrm>
          <a:prstGeom prst="rect">
            <a:avLst/>
          </a:prstGeom>
          <a:solidFill>
            <a:srgbClr val="5C3540"/>
          </a:solidFill>
          <a:ln/>
        </p:spPr>
      </p:sp>
      <p:sp>
        <p:nvSpPr>
          <p:cNvPr id="20" name="Text 15"/>
          <p:cNvSpPr/>
          <p:nvPr/>
        </p:nvSpPr>
        <p:spPr>
          <a:xfrm>
            <a:off x="1371600" y="5548660"/>
            <a:ext cx="1030782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8F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Miami (HQ) · Chicago · Dallas — reconciliations, month-end close &amp; consolidation, SQL, advanced Excel + Power Query, data modeling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0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68"/>
              </a:lnSpc>
              <a:buNone/>
            </a:pPr>
            <a:r>
              <a:rPr lang="en-US" sz="3190" b="1" dirty="0">
                <a:solidFill>
                  <a:srgbClr val="3A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This Project Demonstrates</a:t>
            </a:r>
            <a:endParaRPr lang="en-US" sz="3190" dirty="0"/>
          </a:p>
        </p:txBody>
      </p:sp>
      <p:sp>
        <p:nvSpPr>
          <p:cNvPr id="3" name="Shape 1"/>
          <p:cNvSpPr/>
          <p:nvPr/>
        </p:nvSpPr>
        <p:spPr>
          <a:xfrm>
            <a:off x="815975" y="1534864"/>
            <a:ext cx="3397250" cy="2059880"/>
          </a:xfrm>
          <a:prstGeom prst="roundRect">
            <a:avLst>
              <a:gd name="adj" fmla="val 6011"/>
            </a:avLst>
          </a:prstGeom>
          <a:solidFill>
            <a:srgbClr val="FFFCFB"/>
          </a:solidFill>
          <a:ln w="6350">
            <a:solidFill>
              <a:srgbClr val="EAD9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7750" y="1766639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4A1220"/>
          </a:solidFill>
          <a:ln/>
        </p:spPr>
      </p:sp>
      <p:pic>
        <p:nvPicPr>
          <p:cNvPr id="5" name="Image 0" descr="Activ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36650" y="1855539"/>
            <a:ext cx="177800" cy="17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2211139"/>
            <a:ext cx="3021711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486" b="1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Accounting / Audit / Controlling / FP&amp;A</a:t>
            </a:r>
            <a:endParaRPr lang="en-US" sz="1486" dirty="0"/>
          </a:p>
        </p:txBody>
      </p:sp>
      <p:sp>
        <p:nvSpPr>
          <p:cNvPr id="7" name="Text 4"/>
          <p:cNvSpPr/>
          <p:nvPr/>
        </p:nvSpPr>
        <p:spPr>
          <a:xfrm>
            <a:off x="1047750" y="2752378"/>
            <a:ext cx="3021711" cy="635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5"/>
              </a:lnSpc>
              <a:buNone/>
            </a:pPr>
            <a:r>
              <a:rPr lang="en-US" sz="1189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full close cycle: accruals, reconciliations, variance review, period lock.</a:t>
            </a:r>
            <a:endParaRPr lang="en-US" sz="1189" dirty="0"/>
          </a:p>
        </p:txBody>
      </p:sp>
      <p:sp>
        <p:nvSpPr>
          <p:cNvPr id="8" name="Shape 5"/>
          <p:cNvSpPr/>
          <p:nvPr/>
        </p:nvSpPr>
        <p:spPr>
          <a:xfrm>
            <a:off x="4397375" y="1534864"/>
            <a:ext cx="3397250" cy="2059880"/>
          </a:xfrm>
          <a:prstGeom prst="roundRect">
            <a:avLst>
              <a:gd name="adj" fmla="val 6011"/>
            </a:avLst>
          </a:prstGeom>
          <a:solidFill>
            <a:srgbClr val="FFFCFB"/>
          </a:solidFill>
          <a:ln w="6350">
            <a:solidFill>
              <a:srgbClr val="EAD9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29150" y="1766639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4A1220"/>
          </a:solidFill>
          <a:ln/>
        </p:spPr>
      </p:sp>
      <p:pic>
        <p:nvPicPr>
          <p:cNvPr id="10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050" y="1855539"/>
            <a:ext cx="177800" cy="177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29150" y="2211139"/>
            <a:ext cx="3021711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486" b="1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Reconciliations, Close &amp; Consolidation</a:t>
            </a:r>
            <a:endParaRPr lang="en-US" sz="1486" dirty="0"/>
          </a:p>
        </p:txBody>
      </p:sp>
      <p:sp>
        <p:nvSpPr>
          <p:cNvPr id="12" name="Text 8"/>
          <p:cNvSpPr/>
          <p:nvPr/>
        </p:nvSpPr>
        <p:spPr>
          <a:xfrm>
            <a:off x="4629150" y="2752378"/>
            <a:ext cx="3021711" cy="635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5"/>
              </a:lnSpc>
              <a:buNone/>
            </a:pPr>
            <a:r>
              <a:rPr lang="en-US" sz="1189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Bank-to-book tie-out, a close checklist, and a Group P&amp;L with intercompany elimination.</a:t>
            </a:r>
            <a:endParaRPr lang="en-US" sz="1189" dirty="0"/>
          </a:p>
        </p:txBody>
      </p:sp>
      <p:sp>
        <p:nvSpPr>
          <p:cNvPr id="13" name="Shape 9"/>
          <p:cNvSpPr/>
          <p:nvPr/>
        </p:nvSpPr>
        <p:spPr>
          <a:xfrm>
            <a:off x="7978775" y="1534864"/>
            <a:ext cx="3397250" cy="2059880"/>
          </a:xfrm>
          <a:prstGeom prst="roundRect">
            <a:avLst>
              <a:gd name="adj" fmla="val 6011"/>
            </a:avLst>
          </a:prstGeom>
          <a:solidFill>
            <a:srgbClr val="FFFCFB"/>
          </a:solidFill>
          <a:ln w="6350">
            <a:solidFill>
              <a:srgbClr val="EAD9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10550" y="1766639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4A1220"/>
          </a:solidFill>
          <a:ln/>
        </p:spPr>
      </p:sp>
      <p:pic>
        <p:nvPicPr>
          <p:cNvPr id="15" name="Image 2" descr="Cod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99450" y="1855539"/>
            <a:ext cx="177800" cy="177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10550" y="2211139"/>
            <a:ext cx="302171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SQL — Joins, Aggregation, Windows, CTEs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210550" y="2757239"/>
            <a:ext cx="3021711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LAG, RANK, moving averages, a multi-step CTE, and one recursive CTE.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5975" y="3778895"/>
            <a:ext cx="3397250" cy="2059930"/>
          </a:xfrm>
          <a:prstGeom prst="roundRect">
            <a:avLst>
              <a:gd name="adj" fmla="val 6011"/>
            </a:avLst>
          </a:prstGeom>
          <a:solidFill>
            <a:srgbClr val="FFFCFB"/>
          </a:solidFill>
          <a:ln w="6350">
            <a:solidFill>
              <a:srgbClr val="EAD9D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47750" y="401067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4A1220"/>
          </a:solidFill>
          <a:ln/>
        </p:spPr>
      </p:sp>
      <p:pic>
        <p:nvPicPr>
          <p:cNvPr id="20" name="Image 3" descr="Setting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36650" y="4099570"/>
            <a:ext cx="177800" cy="1778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47750" y="4455170"/>
            <a:ext cx="30217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Advanced Excel + Power Query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047750" y="4772670"/>
            <a:ext cx="3021711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SUMIFS, Tables, conditional formatting, and a documented M-code ETL.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397375" y="3778895"/>
            <a:ext cx="3397250" cy="2059930"/>
          </a:xfrm>
          <a:prstGeom prst="roundRect">
            <a:avLst>
              <a:gd name="adj" fmla="val 6011"/>
            </a:avLst>
          </a:prstGeom>
          <a:solidFill>
            <a:srgbClr val="FFFCFB"/>
          </a:solidFill>
          <a:ln w="6350">
            <a:solidFill>
              <a:srgbClr val="EAD9D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629150" y="401067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4A1220"/>
          </a:solidFill>
          <a:ln/>
        </p:spPr>
      </p:sp>
      <p:pic>
        <p:nvPicPr>
          <p:cNvPr id="25" name="Image 4" descr="Databas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18050" y="4099570"/>
            <a:ext cx="177800" cy="1778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29150" y="4455170"/>
            <a:ext cx="30217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Modeling — Grain &amp; Keys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629150" y="4772670"/>
            <a:ext cx="3021711" cy="64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star schema with self-referencing hierarchies and documented fact-table grain.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7975600" y="3775720"/>
            <a:ext cx="3403600" cy="2066280"/>
          </a:xfrm>
          <a:prstGeom prst="roundRect">
            <a:avLst>
              <a:gd name="adj" fmla="val 6146"/>
            </a:avLst>
          </a:prstGeom>
          <a:solidFill>
            <a:srgbClr val="4A1220"/>
          </a:solidFill>
          <a:ln/>
        </p:spPr>
      </p:sp>
      <p:sp>
        <p:nvSpPr>
          <p:cNvPr id="29" name="Shape 22"/>
          <p:cNvSpPr/>
          <p:nvPr/>
        </p:nvSpPr>
        <p:spPr>
          <a:xfrm>
            <a:off x="8204200" y="40043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D9A94E"/>
          </a:solidFill>
          <a:ln/>
        </p:spPr>
      </p:sp>
      <p:pic>
        <p:nvPicPr>
          <p:cNvPr id="30" name="Image 5" descr="GraduationCap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93100" y="4093220"/>
            <a:ext cx="177800" cy="1778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04200" y="4448820"/>
            <a:ext cx="30347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Grounded in Real Experience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204200" y="4766320"/>
            <a:ext cx="30347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DDBF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Modeled on 7 years running her own firm's finances — extended to three offices.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3A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Offices, One Group</a:t>
            </a:r>
            <a:endParaRPr lang="en-US" sz="3200" dirty="0"/>
          </a:p>
        </p:txBody>
      </p:sp>
      <p:pic>
        <p:nvPicPr>
          <p:cNvPr id="3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84500" y="2372320"/>
            <a:ext cx="3162300" cy="1879600"/>
          </a:xfrm>
          <a:prstGeom prst="rect">
            <a:avLst/>
          </a:prstGeom>
        </p:spPr>
      </p:pic>
      <p:pic>
        <p:nvPicPr>
          <p:cNvPr id="4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5200" y="2372320"/>
            <a:ext cx="3162300" cy="18796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762500" y="1534120"/>
            <a:ext cx="2667000" cy="889000"/>
          </a:xfrm>
          <a:prstGeom prst="roundRect">
            <a:avLst>
              <a:gd name="adj" fmla="val 11429"/>
            </a:avLst>
          </a:prstGeom>
          <a:solidFill>
            <a:srgbClr val="4A1220"/>
          </a:solidFill>
          <a:ln/>
        </p:spPr>
      </p:sp>
      <p:sp>
        <p:nvSpPr>
          <p:cNvPr id="6" name="Text 2"/>
          <p:cNvSpPr/>
          <p:nvPr/>
        </p:nvSpPr>
        <p:spPr>
          <a:xfrm>
            <a:off x="5584081" y="1710680"/>
            <a:ext cx="107463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P&amp;V Miami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960590" y="2033240"/>
            <a:ext cx="23388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AC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 HQ — bills shared services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1708150" y="4207470"/>
            <a:ext cx="2654300" cy="876300"/>
          </a:xfrm>
          <a:prstGeom prst="roundRect">
            <a:avLst>
              <a:gd name="adj" fmla="val 10870"/>
            </a:avLst>
          </a:prstGeom>
          <a:solidFill>
            <a:srgbClr val="FFFCFB"/>
          </a:solidFill>
          <a:ln w="12700">
            <a:solidFill>
              <a:srgbClr val="9C4F5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408486" y="4377680"/>
            <a:ext cx="130437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P&amp;V Chicago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572544" y="4700240"/>
            <a:ext cx="9763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Branch office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829550" y="4207470"/>
            <a:ext cx="2654300" cy="876300"/>
          </a:xfrm>
          <a:prstGeom prst="roundRect">
            <a:avLst>
              <a:gd name="adj" fmla="val 10870"/>
            </a:avLst>
          </a:prstGeom>
          <a:solidFill>
            <a:srgbClr val="FFFCFB"/>
          </a:solidFill>
          <a:ln w="12700">
            <a:solidFill>
              <a:srgbClr val="9C4F5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38282" y="4377680"/>
            <a:ext cx="108763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P&amp;V Dallas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693944" y="4700240"/>
            <a:ext cx="9763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Branch office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48030" y="3248620"/>
            <a:ext cx="22237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C4F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Shared services billed monthly, settled one month in arrears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12800" y="5344120"/>
            <a:ext cx="850265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 months of history (Jan 2024 – Jun 2025). Each office keeps its own books; Miami's shared-services billing to the branches is exactly what a Group consolidation needs to eliminate.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81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b="1" dirty="0">
                <a:solidFill>
                  <a:srgbClr val="3A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Model — Grain &amp; Keys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11376025" y="1497806"/>
            <a:ext cx="0" cy="3470275"/>
          </a:xfrm>
          <a:prstGeom prst="line">
            <a:avLst/>
          </a:prstGeom>
          <a:noFill/>
          <a:ln w="6350">
            <a:solidFill>
              <a:srgbClr val="EAD9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" y="4964906"/>
            <a:ext cx="10566400" cy="0"/>
          </a:xfrm>
          <a:prstGeom prst="line">
            <a:avLst/>
          </a:prstGeom>
          <a:noFill/>
          <a:ln w="6350">
            <a:solidFill>
              <a:srgbClr val="EAD9D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10506"/>
          <a:ext cx="10547350" cy="3451225"/>
        </p:xfrm>
        <a:graphic>
          <a:graphicData uri="http://schemas.openxmlformats.org/drawingml/2006/table">
            <a:tbl>
              <a:tblPr/>
              <a:tblGrid>
                <a:gridCol w="2109470"/>
                <a:gridCol w="1265682"/>
                <a:gridCol w="4218940"/>
                <a:gridCol w="2953258"/>
              </a:tblGrid>
              <a:tr h="338237"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b="1" dirty="0">
                          <a:solidFill>
                            <a:srgbClr val="F7EDE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Table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b="1" dirty="0">
                          <a:solidFill>
                            <a:srgbClr val="F7EDE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Type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b="1" dirty="0">
                          <a:solidFill>
                            <a:srgbClr val="F7EDE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Grain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b="1" dirty="0">
                          <a:solidFill>
                            <a:srgbClr val="F7EDE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Keys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20"/>
                    </a:solidFill>
                  </a:tcPr>
                </a:tc>
              </a:tr>
              <a:tr h="554930"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dim_entity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7A556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Dimension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One row per legal entity / office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7A556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PK entity_id; self-ref. parent_entity_id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</a:tr>
              <a:tr h="554930"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dim_account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7A556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Dimension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One row per chart-of-accounts line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7A556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PK account_id; self-ref. parent_account_id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</a:tr>
              <a:tr h="338237"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dim_date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7A556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Dimension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One row per calendar date in use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7A556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PK date_id (ISO date, a "smart key")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</a:tr>
              <a:tr h="554930"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9C4F5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fact_gl_transactions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9C4F5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Fact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One row per general-ledger journal line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7A556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PK txn_id; journal_id groups the entry; FKs to all 3 dims + counterparty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</a:tr>
              <a:tr h="554980"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9C4F5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fact_bank_transactions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9C4F5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Fact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One row per bank statement line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7A556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PK bank_txn_id; matched_gl_txn_id → fact_gl_transactions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</a:tr>
              <a:tr h="554980"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9C4F5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fact_budget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9C4F5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Fact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One row per entity × account × month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06"/>
                        </a:lnSpc>
                        <a:buNone/>
                      </a:pPr>
                      <a:r>
                        <a:rPr lang="en-US" sz="1219" dirty="0">
                          <a:solidFill>
                            <a:srgbClr val="7A556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PK budget_id; natural key (entity, account, month)</a:t>
                      </a:r>
                      <a:endParaRPr lang="en-US" sz="121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4173" marR="54173" marT="54173" marB="54173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5196681"/>
            <a:ext cx="709613" cy="233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entities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74813" y="5196681"/>
            <a:ext cx="914450" cy="233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27</a:t>
            </a: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accounts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1662" y="5196681"/>
            <a:ext cx="1976151" cy="233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1,786</a:t>
            </a: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GL lines / </a:t>
            </a:r>
            <a:r>
              <a:rPr lang="en-US" sz="1200" b="1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677</a:t>
            </a: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journals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63455" y="5196681"/>
            <a:ext cx="1061343" cy="233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446</a:t>
            </a: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bank lines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77198" y="5196681"/>
            <a:ext cx="1222970" cy="233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576</a:t>
            </a: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budget rows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2800" y="5633641"/>
            <a:ext cx="9810750" cy="233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journal is asserted to balance (debits = credits) before it's loaded — the data can't drift out of double-entry.</a:t>
            </a:r>
            <a:endParaRPr lang="en-US" sz="119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3A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SQL — Window Functions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08720"/>
            <a:ext cx="6140301" cy="3992414"/>
          </a:xfrm>
          <a:prstGeom prst="roundRect">
            <a:avLst>
              <a:gd name="adj" fmla="val 3181"/>
            </a:avLst>
          </a:prstGeom>
          <a:solidFill>
            <a:srgbClr val="2A0A14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62720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B98F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Month-over-month revenue variance, per office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66800" y="1995438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monthly_revenue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66800" y="2228155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entity_code, year, month,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66800" y="2460873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SUM(credit - debit)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revenue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66800" y="2693591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fact_gl_transactions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66800" y="2926308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BY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entity_code, year, month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66800" y="3159026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66800" y="3391743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entity_code, year, month, revenue,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6800" y="3624461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50" dirty="0">
                <a:solidFill>
                  <a:srgbClr val="EAC8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LAG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(revenue)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OVER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66800" y="3857179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PARTITION BY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entity_code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66800" y="4089896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BY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year, month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66800" y="4322614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)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prior_month_revenue,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66800" y="4555331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50" dirty="0">
                <a:solidFill>
                  <a:srgbClr val="EAC8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(revenue - </a:t>
            </a:r>
            <a:r>
              <a:rPr lang="en-US" sz="1150" dirty="0">
                <a:solidFill>
                  <a:srgbClr val="EAC8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LAG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(revenue)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OVER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(...), 2)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66800" y="4788049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mom_change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66800" y="5020766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monthly_revenue;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207101" y="2311301"/>
            <a:ext cx="429726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FP&amp;A flux analysis, without a self-join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07101" y="2737991"/>
            <a:ext cx="429726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PARTITION BY entity_code</a:t>
            </a: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restarts the comparison for each office, so Miami's March never looks back at Dallas's February.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07101" y="3504952"/>
            <a:ext cx="429726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LAG()</a:t>
            </a: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reaches back one row in the window instead of a self-join on a prior-month key.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07101" y="4058593"/>
            <a:ext cx="429726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same technique drives </a:t>
            </a:r>
            <a:r>
              <a:rPr lang="en-US" sz="1200" b="1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RANK()</a:t>
            </a: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(largest expense accounts) and a </a:t>
            </a:r>
            <a:r>
              <a:rPr lang="en-US" sz="1200" b="1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3-month moving average</a:t>
            </a: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of Group revenue elsewhere in queries.sql.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3A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SQL — Recursive CTE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08720"/>
            <a:ext cx="6140301" cy="3992414"/>
          </a:xfrm>
          <a:prstGeom prst="roundRect">
            <a:avLst>
              <a:gd name="adj" fmla="val 3181"/>
            </a:avLst>
          </a:prstGeom>
          <a:solidFill>
            <a:srgbClr val="2A0A14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62720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B98F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Chart-of-accounts rollup, any depth of hierarchy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66800" y="1995438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 RECURSIVE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account_rollup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66800" y="2228155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account_id, parent_account_id,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66800" y="2460873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account_id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top_level_id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66800" y="2693591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dim_account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66800" y="2926308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parent_account_id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 NULL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66800" y="3159026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B98F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 anchor: the top-level accounts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66800" y="3391743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UNION ALL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6800" y="3624461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a.account_id, a.parent_account_id, r.top_level_id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66800" y="3857179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dim_account 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66800" y="4089896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account_rollup r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a.parent_account_id = r.account_id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66800" y="4322614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66800" y="4555331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top_level_id, SUM(debit - credit)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66800" y="4788049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fact_gl_transactions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account_rollup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USING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(account_id)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66800" y="5020766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BY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top_level_id;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207101" y="2417961"/>
            <a:ext cx="429726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hardcoded mapping table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07101" y="2844651"/>
            <a:ext cx="429726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Anchor</a:t>
            </a: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every account with no parent (Revenue, COGS, Opex, and the balance-sheet categories).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07101" y="3398292"/>
            <a:ext cx="429726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Recursive member</a:t>
            </a: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joins each child to the ancestor its parent already resolved to, however many levels deep dim_account goes.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07101" y="4165253"/>
            <a:ext cx="429726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Re-parent an account tomorrow and this query never changes — the hierarchy in the table </a:t>
            </a:r>
            <a:r>
              <a:rPr lang="en-US" sz="1200" i="1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</a:t>
            </a: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rollup logic.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3A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SQL — Consolidation &amp; Elimination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08720"/>
            <a:ext cx="6140301" cy="3759696"/>
          </a:xfrm>
          <a:prstGeom prst="roundRect">
            <a:avLst>
              <a:gd name="adj" fmla="val 3378"/>
            </a:avLst>
          </a:prstGeom>
          <a:solidFill>
            <a:srgbClr val="2A0A14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62720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B98F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Group P&amp;L, intercompany revenue &amp; expense isolated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66800" y="1995438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entity_pl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66800" y="2228155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account_type, is_intercompany,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66800" y="2460873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SUM(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WHEN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account_type=</a:t>
            </a:r>
            <a:r>
              <a:rPr lang="en-US" sz="1150" dirty="0">
                <a:solidFill>
                  <a:srgbClr val="EAC8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'Revenue'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66800" y="2693591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THEN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credit-debit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ELSE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debit-credit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amount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66800" y="2926308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fact_gl_transactions f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dim_account a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USING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(account_id)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66800" y="3159026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BY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account_type, is_intercompany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66800" y="3391743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6800" y="3624461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66800" y="3857179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SUM(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WHEN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account_type=</a:t>
            </a:r>
            <a:r>
              <a:rPr lang="en-US" sz="1150" dirty="0">
                <a:solidFill>
                  <a:srgbClr val="EAC8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'Revenue'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THEN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amount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ELSE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0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66800" y="4089896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total_revenue,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66800" y="4322614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SUM(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WHEN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is_intercompany=1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THEN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amount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ELSE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0 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66800" y="4555331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ic_elimination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66800" y="4788049"/>
            <a:ext cx="5801270" cy="251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150" dirty="0">
                <a:solidFill>
                  <a:srgbClr val="EDE0D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entity_pl;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207101" y="2213967"/>
            <a:ext cx="429726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CASE, no manual sign-flipping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07101" y="2627957"/>
            <a:ext cx="429726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</a:t>
            </a:r>
            <a:r>
              <a:rPr lang="en-US" sz="1200" b="1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CASE</a:t>
            </a: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inside </a:t>
            </a:r>
            <a:r>
              <a:rPr lang="en-US" sz="1200" b="1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SUM()</a:t>
            </a: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flips revenue's natural credit sign to positive so it reads like a P&amp;L, in the same pass as the aggregation.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07101" y="3382218"/>
            <a:ext cx="429726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is_intercompany</a:t>
            </a: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on dim_account isolates exactly the HQ-to-branch shared-services billing — nothing else.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07101" y="3923159"/>
            <a:ext cx="429726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 on the next slides: eliminating it moves revenue and expense, but </a:t>
            </a:r>
            <a:r>
              <a:rPr lang="en-US" sz="1200" b="1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</a:t>
            </a: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Operating Income — there's no markup on the intercompany charge.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4A1220"/>
              </a:gs>
              <a:gs pos="55000">
                <a:srgbClr val="2A0A14"/>
              </a:gs>
              <a:gs pos="100000">
                <a:srgbClr val="170509"/>
              </a:gs>
            </a:gsLst>
            <a:path path="circle">
              <a:fillToRect l="50000" t="18000" r="50000" b="82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7ED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Revenue Trend by Office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52648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AC873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483320"/>
            <a:ext cx="22133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Miami (HQ) — $113.9K in Jun '25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69729" y="152648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8FB7FF"/>
          </a:solidFill>
          <a:ln/>
        </p:spPr>
      </p:sp>
      <p:sp>
        <p:nvSpPr>
          <p:cNvPr id="7" name="Text 5"/>
          <p:cNvSpPr/>
          <p:nvPr/>
        </p:nvSpPr>
        <p:spPr>
          <a:xfrm>
            <a:off x="3672929" y="1483320"/>
            <a:ext cx="13126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Chicago — $69.9K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39593" y="152648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F7EDE9"/>
          </a:solidFill>
          <a:ln/>
        </p:spPr>
      </p:sp>
      <p:sp>
        <p:nvSpPr>
          <p:cNvPr id="9" name="Text 7"/>
          <p:cNvSpPr/>
          <p:nvPr/>
        </p:nvSpPr>
        <p:spPr>
          <a:xfrm>
            <a:off x="5442793" y="1483320"/>
            <a:ext cx="11135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Dallas — $57.2K</a:t>
            </a:r>
            <a:endParaRPr lang="en-US" sz="1200" dirty="0"/>
          </a:p>
        </p:txBody>
      </p:sp>
      <p:pic>
        <p:nvPicPr>
          <p:cNvPr id="10" name="Image 0" descr="Line chart of monthly revenue by office, January 2024 to June 2025">    </p:cNvPr>
          <p:cNvPicPr>
            <a:picLocks noChangeAspect="1"/>
          </p:cNvPicPr>
          <p:nvPr/>
        </p:nvPicPr>
        <p:blipFill>
          <a:blip r:embed="rId1"/>
          <a:srcRect l="0" r="0" t="-33" b="-33"/>
          <a:stretch/>
        </p:blipFill>
        <p:spPr>
          <a:xfrm>
            <a:off x="1219200" y="1899841"/>
            <a:ext cx="10160000" cy="3048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2000" y="2052241"/>
            <a:ext cx="406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8F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$120K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62000" y="2992041"/>
            <a:ext cx="406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8F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$80K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62000" y="3931841"/>
            <a:ext cx="406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8F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$40K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62000" y="4871641"/>
            <a:ext cx="406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8F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03300" y="5024041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8F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Jan '24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794000" y="5024041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8F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Apr '24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84700" y="5024041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8F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Jul '24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81750" y="5024041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8F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Oct '24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172450" y="5024041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8F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Jan '25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963150" y="5024041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8F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Apr '25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3A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Budget vs. Actual — June 2025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8332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Direct case costs + operating expenses, per office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12800" y="1936651"/>
            <a:ext cx="139700" cy="139700"/>
          </a:xfrm>
          <a:prstGeom prst="roundRect">
            <a:avLst>
              <a:gd name="adj" fmla="val 27273"/>
            </a:avLst>
          </a:prstGeom>
          <a:solidFill>
            <a:srgbClr val="C9A66B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1899841"/>
            <a:ext cx="5653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Budget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71898" y="1936651"/>
            <a:ext cx="139700" cy="139700"/>
          </a:xfrm>
          <a:prstGeom prst="roundRect">
            <a:avLst>
              <a:gd name="adj" fmla="val 27273"/>
            </a:avLst>
          </a:prstGeom>
          <a:solidFill>
            <a:srgbClr val="9C4F5D"/>
          </a:solidFill>
          <a:ln/>
        </p:spPr>
      </p:sp>
      <p:sp>
        <p:nvSpPr>
          <p:cNvPr id="7" name="Text 5"/>
          <p:cNvSpPr/>
          <p:nvPr/>
        </p:nvSpPr>
        <p:spPr>
          <a:xfrm>
            <a:off x="1987798" y="1899841"/>
            <a:ext cx="5035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Actual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44800" y="2627561"/>
            <a:ext cx="546150" cy="2298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$70.9K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7700" y="2882801"/>
            <a:ext cx="609600" cy="2100560"/>
          </a:xfrm>
          <a:custGeom>
            <a:avLst/>
            <a:gdLst/>
            <a:ahLst/>
            <a:cxnLst/>
            <a:rect l="l" t="t" r="r" b="b"/>
            <a:pathLst>
              <a:path w="609600" h="2100560">
                <a:moveTo>
                  <a:pt x="50800" y="0"/>
                </a:moveTo>
                <a:lnTo>
                  <a:pt x="558800" y="0"/>
                </a:lnTo>
                <a:arcTo hR="50800" wR="50800" stAng="16200000" swAng="5400000"/>
                <a:lnTo>
                  <a:pt x="609600" y="2100560"/>
                </a:lnTo>
                <a:lnTo>
                  <a:pt x="0" y="210056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C9A66B"/>
          </a:solidFill>
          <a:ln/>
        </p:spPr>
      </p:sp>
      <p:sp>
        <p:nvSpPr>
          <p:cNvPr id="10" name="Text 8"/>
          <p:cNvSpPr/>
          <p:nvPr/>
        </p:nvSpPr>
        <p:spPr>
          <a:xfrm>
            <a:off x="4068415" y="2316361"/>
            <a:ext cx="372120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765" b="1" dirty="0">
                <a:solidFill>
                  <a:srgbClr val="9C4F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$83.7K</a:t>
            </a:r>
            <a:endParaRPr lang="en-US" sz="765" dirty="0"/>
          </a:p>
        </p:txBody>
      </p:sp>
      <p:sp>
        <p:nvSpPr>
          <p:cNvPr id="11" name="Shape 9"/>
          <p:cNvSpPr/>
          <p:nvPr/>
        </p:nvSpPr>
        <p:spPr>
          <a:xfrm>
            <a:off x="3924300" y="2503091"/>
            <a:ext cx="609600" cy="2480270"/>
          </a:xfrm>
          <a:custGeom>
            <a:avLst/>
            <a:gdLst/>
            <a:ahLst/>
            <a:cxnLst/>
            <a:rect l="l" t="t" r="r" b="b"/>
            <a:pathLst>
              <a:path w="609600" h="2480270">
                <a:moveTo>
                  <a:pt x="50800" y="0"/>
                </a:moveTo>
                <a:lnTo>
                  <a:pt x="558800" y="0"/>
                </a:lnTo>
                <a:arcTo hR="50800" wR="50800" stAng="16200000" swAng="5400000"/>
                <a:lnTo>
                  <a:pt x="609600" y="2480270"/>
                </a:lnTo>
                <a:lnTo>
                  <a:pt x="0" y="248027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9C4F5D"/>
          </a:solidFill>
          <a:ln/>
        </p:spPr>
      </p:sp>
      <p:sp>
        <p:nvSpPr>
          <p:cNvPr id="12" name="Text 10"/>
          <p:cNvSpPr/>
          <p:nvPr/>
        </p:nvSpPr>
        <p:spPr>
          <a:xfrm>
            <a:off x="3603774" y="5110361"/>
            <a:ext cx="5648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Miami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35759" y="5486251"/>
            <a:ext cx="70083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C4F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+18% over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78810" y="3293021"/>
            <a:ext cx="548580" cy="2298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$48.4K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22900" y="3548261"/>
            <a:ext cx="609600" cy="1435100"/>
          </a:xfrm>
          <a:custGeom>
            <a:avLst/>
            <a:gdLst/>
            <a:ahLst/>
            <a:cxnLst/>
            <a:rect l="l" t="t" r="r" b="b"/>
            <a:pathLst>
              <a:path w="609600" h="1435100">
                <a:moveTo>
                  <a:pt x="50800" y="0"/>
                </a:moveTo>
                <a:lnTo>
                  <a:pt x="558800" y="0"/>
                </a:lnTo>
                <a:arcTo hR="50800" wR="50800" stAng="16200000" swAng="5400000"/>
                <a:lnTo>
                  <a:pt x="609600" y="1435100"/>
                </a:lnTo>
                <a:lnTo>
                  <a:pt x="0" y="14351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C9A66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8039" y="3080941"/>
            <a:ext cx="543322" cy="2298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9C4F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$55.6K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9500" y="3336181"/>
            <a:ext cx="609600" cy="1647180"/>
          </a:xfrm>
          <a:custGeom>
            <a:avLst/>
            <a:gdLst/>
            <a:ahLst/>
            <a:cxnLst/>
            <a:rect l="l" t="t" r="r" b="b"/>
            <a:pathLst>
              <a:path w="609600" h="1647180">
                <a:moveTo>
                  <a:pt x="50800" y="0"/>
                </a:moveTo>
                <a:lnTo>
                  <a:pt x="558800" y="0"/>
                </a:lnTo>
                <a:arcTo hR="50800" wR="50800" stAng="16200000" swAng="5400000"/>
                <a:lnTo>
                  <a:pt x="609600" y="1647180"/>
                </a:lnTo>
                <a:lnTo>
                  <a:pt x="0" y="164718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9C4F5D"/>
          </a:solidFill>
          <a:ln/>
        </p:spPr>
      </p:sp>
      <p:sp>
        <p:nvSpPr>
          <p:cNvPr id="18" name="Text 16"/>
          <p:cNvSpPr/>
          <p:nvPr/>
        </p:nvSpPr>
        <p:spPr>
          <a:xfrm>
            <a:off x="5738465" y="5110361"/>
            <a:ext cx="76587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Chicago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71158" y="5486251"/>
            <a:ext cx="70043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C4F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+15% over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14307" y="3456880"/>
            <a:ext cx="547985" cy="2298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$42.9K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58100" y="3712121"/>
            <a:ext cx="609600" cy="1271240"/>
          </a:xfrm>
          <a:custGeom>
            <a:avLst/>
            <a:gdLst/>
            <a:ahLst/>
            <a:cxnLst/>
            <a:rect l="l" t="t" r="r" b="b"/>
            <a:pathLst>
              <a:path w="609600" h="1271240">
                <a:moveTo>
                  <a:pt x="50800" y="0"/>
                </a:moveTo>
                <a:lnTo>
                  <a:pt x="558800" y="0"/>
                </a:lnTo>
                <a:arcTo hR="50800" wR="50800" stAng="16200000" swAng="5400000"/>
                <a:lnTo>
                  <a:pt x="609600" y="1271240"/>
                </a:lnTo>
                <a:lnTo>
                  <a:pt x="0" y="127124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C9A66B"/>
          </a:solidFill>
          <a:ln/>
        </p:spPr>
      </p:sp>
      <p:sp>
        <p:nvSpPr>
          <p:cNvPr id="22" name="Text 20"/>
          <p:cNvSpPr/>
          <p:nvPr/>
        </p:nvSpPr>
        <p:spPr>
          <a:xfrm>
            <a:off x="8456067" y="3286075"/>
            <a:ext cx="537617" cy="2298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9C4F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$48.7K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94700" y="3541316"/>
            <a:ext cx="609600" cy="1442045"/>
          </a:xfrm>
          <a:custGeom>
            <a:avLst/>
            <a:gdLst/>
            <a:ahLst/>
            <a:cxnLst/>
            <a:rect l="l" t="t" r="r" b="b"/>
            <a:pathLst>
              <a:path w="609600" h="1442045">
                <a:moveTo>
                  <a:pt x="50800" y="0"/>
                </a:moveTo>
                <a:lnTo>
                  <a:pt x="558800" y="0"/>
                </a:lnTo>
                <a:arcTo hR="50800" wR="50800" stAng="16200000" swAng="5400000"/>
                <a:lnTo>
                  <a:pt x="609600" y="1442045"/>
                </a:lnTo>
                <a:lnTo>
                  <a:pt x="0" y="1442045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9C4F5D"/>
          </a:solidFill>
          <a:ln/>
        </p:spPr>
      </p:sp>
      <p:sp>
        <p:nvSpPr>
          <p:cNvPr id="24" name="Text 22"/>
          <p:cNvSpPr/>
          <p:nvPr/>
        </p:nvSpPr>
        <p:spPr>
          <a:xfrm>
            <a:off x="8068469" y="5110361"/>
            <a:ext cx="57621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Dallas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08094" y="5486251"/>
            <a:ext cx="69701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C4F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+13% over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4A1220"/>
              </a:gs>
              <a:gs pos="55000">
                <a:srgbClr val="2A0A14"/>
              </a:gs>
              <a:gs pos="100000">
                <a:srgbClr val="170509"/>
              </a:gs>
            </a:gsLst>
            <a:path path="circle">
              <a:fillToRect l="50000" t="18000" r="50000" b="82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7ED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Group Expense Breakdown — June 2025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52906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Attorney &amp; Staff Payroll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06800" y="1508720"/>
            <a:ext cx="5207000" cy="254000"/>
          </a:xfrm>
          <a:custGeom>
            <a:avLst/>
            <a:gdLst/>
            <a:ahLst/>
            <a:cxnLst/>
            <a:rect l="l" t="t" r="r" b="b"/>
            <a:pathLst>
              <a:path w="5207000" h="254000">
                <a:moveTo>
                  <a:pt x="0" y="0"/>
                </a:moveTo>
                <a:lnTo>
                  <a:pt x="5156200" y="0"/>
                </a:lnTo>
                <a:arcTo hR="50800" wR="50800" stAng="16200000" swAng="5400000"/>
                <a:lnTo>
                  <a:pt x="5207000" y="203200"/>
                </a:lnTo>
                <a:arcTo hR="50800" wR="50800" stAng="0" swAng="5400000"/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D9A94E"/>
          </a:solidFill>
          <a:ln/>
        </p:spPr>
      </p:sp>
      <p:sp>
        <p:nvSpPr>
          <p:cNvPr id="6" name="Text 4"/>
          <p:cNvSpPr/>
          <p:nvPr/>
        </p:nvSpPr>
        <p:spPr>
          <a:xfrm>
            <a:off x="8940800" y="1529060"/>
            <a:ext cx="585639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$107.1K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192276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Office Rent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06800" y="1902420"/>
            <a:ext cx="778470" cy="254000"/>
          </a:xfrm>
          <a:custGeom>
            <a:avLst/>
            <a:gdLst/>
            <a:ahLst/>
            <a:cxnLst/>
            <a:rect l="l" t="t" r="r" b="b"/>
            <a:pathLst>
              <a:path w="778470" h="254000">
                <a:moveTo>
                  <a:pt x="0" y="0"/>
                </a:moveTo>
                <a:lnTo>
                  <a:pt x="727670" y="0"/>
                </a:lnTo>
                <a:arcTo hR="50800" wR="50800" stAng="16200000" swAng="5400000"/>
                <a:lnTo>
                  <a:pt x="778470" y="203200"/>
                </a:lnTo>
                <a:arcTo hR="50800" wR="50800" stAng="0" swAng="5400000"/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D9A94E"/>
          </a:solidFill>
          <a:ln/>
        </p:spPr>
      </p:sp>
      <p:sp>
        <p:nvSpPr>
          <p:cNvPr id="9" name="Text 7"/>
          <p:cNvSpPr/>
          <p:nvPr/>
        </p:nvSpPr>
        <p:spPr>
          <a:xfrm>
            <a:off x="4512270" y="1922760"/>
            <a:ext cx="553145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$16.0K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231646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Payroll Taxes &amp; Benefits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06800" y="2296120"/>
            <a:ext cx="728960" cy="254000"/>
          </a:xfrm>
          <a:custGeom>
            <a:avLst/>
            <a:gdLst/>
            <a:ahLst/>
            <a:cxnLst/>
            <a:rect l="l" t="t" r="r" b="b"/>
            <a:pathLst>
              <a:path w="728960" h="254000">
                <a:moveTo>
                  <a:pt x="0" y="0"/>
                </a:moveTo>
                <a:lnTo>
                  <a:pt x="678160" y="0"/>
                </a:lnTo>
                <a:arcTo hR="50800" wR="50800" stAng="16200000" swAng="5400000"/>
                <a:lnTo>
                  <a:pt x="728960" y="203200"/>
                </a:lnTo>
                <a:arcTo hR="50800" wR="50800" stAng="0" swAng="5400000"/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D9A94E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760" y="2316460"/>
            <a:ext cx="547737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$15.0K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271016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Court Filing Fees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06800" y="2689820"/>
            <a:ext cx="665460" cy="254000"/>
          </a:xfrm>
          <a:custGeom>
            <a:avLst/>
            <a:gdLst/>
            <a:ahLst/>
            <a:cxnLst/>
            <a:rect l="l" t="t" r="r" b="b"/>
            <a:pathLst>
              <a:path w="665460" h="254000">
                <a:moveTo>
                  <a:pt x="0" y="0"/>
                </a:moveTo>
                <a:lnTo>
                  <a:pt x="614660" y="0"/>
                </a:lnTo>
                <a:arcTo hR="50800" wR="50800" stAng="16200000" swAng="5400000"/>
                <a:lnTo>
                  <a:pt x="665460" y="203200"/>
                </a:lnTo>
                <a:arcTo hR="50800" wR="50800" stAng="0" swAng="5400000"/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D9A94E"/>
          </a:solidFill>
          <a:ln/>
        </p:spPr>
      </p:sp>
      <p:sp>
        <p:nvSpPr>
          <p:cNvPr id="15" name="Text 13"/>
          <p:cNvSpPr/>
          <p:nvPr/>
        </p:nvSpPr>
        <p:spPr>
          <a:xfrm>
            <a:off x="4399260" y="2710160"/>
            <a:ext cx="528042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$13.7K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310386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Expert Witness Fees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06800" y="3083520"/>
            <a:ext cx="544165" cy="254000"/>
          </a:xfrm>
          <a:custGeom>
            <a:avLst/>
            <a:gdLst/>
            <a:ahLst/>
            <a:cxnLst/>
            <a:rect l="l" t="t" r="r" b="b"/>
            <a:pathLst>
              <a:path w="544165" h="254000">
                <a:moveTo>
                  <a:pt x="0" y="0"/>
                </a:moveTo>
                <a:lnTo>
                  <a:pt x="493365" y="0"/>
                </a:lnTo>
                <a:arcTo hR="50800" wR="50800" stAng="16200000" swAng="5400000"/>
                <a:lnTo>
                  <a:pt x="544165" y="203200"/>
                </a:lnTo>
                <a:arcTo hR="50800" wR="50800" stAng="0" swAng="5400000"/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D9A94E"/>
          </a:solidFill>
          <a:ln/>
        </p:spPr>
      </p:sp>
      <p:sp>
        <p:nvSpPr>
          <p:cNvPr id="18" name="Text 16"/>
          <p:cNvSpPr/>
          <p:nvPr/>
        </p:nvSpPr>
        <p:spPr>
          <a:xfrm>
            <a:off x="4277965" y="3103860"/>
            <a:ext cx="50953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$11.2K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349756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Shared Services Alloc. (IC)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06800" y="3477220"/>
            <a:ext cx="346075" cy="254000"/>
          </a:xfrm>
          <a:custGeom>
            <a:avLst/>
            <a:gdLst/>
            <a:ahLst/>
            <a:cxnLst/>
            <a:rect l="l" t="t" r="r" b="b"/>
            <a:pathLst>
              <a:path w="346075" h="254000">
                <a:moveTo>
                  <a:pt x="0" y="0"/>
                </a:moveTo>
                <a:lnTo>
                  <a:pt x="295275" y="0"/>
                </a:lnTo>
                <a:arcTo hR="50800" wR="50800" stAng="16200000" swAng="5400000"/>
                <a:lnTo>
                  <a:pt x="346075" y="203200"/>
                </a:lnTo>
                <a:arcTo hR="50800" wR="50800" stAng="0" swAng="5400000"/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8FB7FF"/>
          </a:solidFill>
          <a:ln/>
        </p:spPr>
      </p:sp>
      <p:sp>
        <p:nvSpPr>
          <p:cNvPr id="21" name="Text 19"/>
          <p:cNvSpPr/>
          <p:nvPr/>
        </p:nvSpPr>
        <p:spPr>
          <a:xfrm>
            <a:off x="4079875" y="3497560"/>
            <a:ext cx="41860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B7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$7.1K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4679" y="3506440"/>
            <a:ext cx="177176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B98F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eliminated at Group level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2800" y="389126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Marketing &amp; Business Dev.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06800" y="3870920"/>
            <a:ext cx="338435" cy="254000"/>
          </a:xfrm>
          <a:custGeom>
            <a:avLst/>
            <a:gdLst/>
            <a:ahLst/>
            <a:cxnLst/>
            <a:rect l="l" t="t" r="r" b="b"/>
            <a:pathLst>
              <a:path w="338435" h="254000">
                <a:moveTo>
                  <a:pt x="0" y="0"/>
                </a:moveTo>
                <a:lnTo>
                  <a:pt x="287635" y="0"/>
                </a:lnTo>
                <a:arcTo hR="50800" wR="50800" stAng="16200000" swAng="5400000"/>
                <a:lnTo>
                  <a:pt x="338435" y="203200"/>
                </a:lnTo>
                <a:arcTo hR="50800" wR="50800" stAng="0" swAng="5400000"/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D9A94E"/>
          </a:solidFill>
          <a:ln/>
        </p:spPr>
      </p:sp>
      <p:sp>
        <p:nvSpPr>
          <p:cNvPr id="25" name="Text 23"/>
          <p:cNvSpPr/>
          <p:nvPr/>
        </p:nvSpPr>
        <p:spPr>
          <a:xfrm>
            <a:off x="4072235" y="3891260"/>
            <a:ext cx="470446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$7.0K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428496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Software &amp; 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06800" y="4264620"/>
            <a:ext cx="259060" cy="254000"/>
          </a:xfrm>
          <a:custGeom>
            <a:avLst/>
            <a:gdLst/>
            <a:ahLst/>
            <a:cxnLst/>
            <a:rect l="l" t="t" r="r" b="b"/>
            <a:pathLst>
              <a:path w="259060" h="254000">
                <a:moveTo>
                  <a:pt x="0" y="0"/>
                </a:moveTo>
                <a:lnTo>
                  <a:pt x="208260" y="0"/>
                </a:lnTo>
                <a:arcTo hR="50800" wR="50800" stAng="16200000" swAng="5400000"/>
                <a:lnTo>
                  <a:pt x="259060" y="203200"/>
                </a:lnTo>
                <a:arcTo hR="50800" wR="50800" stAng="0" swAng="5400000"/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D9A94E"/>
          </a:solidFill>
          <a:ln/>
        </p:spPr>
      </p:sp>
      <p:sp>
        <p:nvSpPr>
          <p:cNvPr id="28" name="Text 26"/>
          <p:cNvSpPr/>
          <p:nvPr/>
        </p:nvSpPr>
        <p:spPr>
          <a:xfrm>
            <a:off x="3992860" y="4284960"/>
            <a:ext cx="469305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$5.3K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170509"/>
          </a:solidFill>
          <a:ln/>
        </p:spPr>
      </p:sp>
      <p:sp>
        <p:nvSpPr>
          <p:cNvPr id="3" name="Shape 1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170509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125577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3A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Bank Reconciliation — June 2025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2188825" y="2208213"/>
            <a:ext cx="0" cy="2441575"/>
          </a:xfrm>
          <a:prstGeom prst="line">
            <a:avLst/>
          </a:prstGeom>
          <a:noFill/>
          <a:ln w="6350">
            <a:solidFill>
              <a:srgbClr val="EAD9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646613"/>
            <a:ext cx="12192000" cy="0"/>
          </a:xfrm>
          <a:prstGeom prst="line">
            <a:avLst/>
          </a:prstGeom>
          <a:noFill/>
          <a:ln w="6350">
            <a:solidFill>
              <a:srgbClr val="EAD9D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" y="2220913"/>
          <a:ext cx="12172950" cy="2422525"/>
        </p:xfrm>
        <a:graphic>
          <a:graphicData uri="http://schemas.openxmlformats.org/drawingml/2006/table">
            <a:tbl>
              <a:tblPr/>
              <a:tblGrid>
                <a:gridCol w="5599557"/>
                <a:gridCol w="2191131"/>
                <a:gridCol w="2191131"/>
                <a:gridCol w="2191131"/>
              </a:tblGrid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7EDE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Line Item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7EDE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Miami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7EDE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Chicago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7EDE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Dallas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20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Book cash movement (GL)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$33,024.53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$10,400.85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$7,680.73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Add: bank items not yet booked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9C4F5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($10.00)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9C4F5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($12.66)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9C4F5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($13.15)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Adjusted book balance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C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$33,014.53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C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$10,388.19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C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$7,667.58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CD3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Bank statement movement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$35,646.07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$12,003.78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$8,990.36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Add: outstanding items (not yet cleared)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9C4F5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($2,631.54)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9C4F5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($1,615.59)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9C4F5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($1,322.78)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Adjusted bank balance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C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$33,014.53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C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$10,388.19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C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$7,667.58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0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CD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3315990"/>
            <a:ext cx="2975421" cy="365720"/>
          </a:xfrm>
          <a:prstGeom prst="roundRect">
            <a:avLst>
              <a:gd name="adj" fmla="val 50000"/>
            </a:avLst>
          </a:prstGeom>
          <a:solidFill>
            <a:srgbClr val="4A1220"/>
          </a:solidFill>
          <a:ln/>
        </p:spPr>
      </p:sp>
      <p:pic>
        <p:nvPicPr>
          <p:cNvPr id="9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7800" y="3409950"/>
            <a:ext cx="177800" cy="177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1800" y="3392190"/>
            <a:ext cx="24367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Ties to $0.00 on all three offices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102421" y="3392190"/>
            <a:ext cx="44327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off PQ_Bank_Data and PQ_GL_Data — no pasted figures.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3A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Group Consolidation — June 2025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376025" y="1483320"/>
            <a:ext cx="0" cy="1882378"/>
          </a:xfrm>
          <a:prstGeom prst="line">
            <a:avLst/>
          </a:prstGeom>
          <a:noFill/>
          <a:ln w="6350">
            <a:solidFill>
              <a:srgbClr val="EAD9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" y="3362523"/>
            <a:ext cx="10566400" cy="0"/>
          </a:xfrm>
          <a:prstGeom prst="line">
            <a:avLst/>
          </a:prstGeom>
          <a:noFill/>
          <a:ln w="6350">
            <a:solidFill>
              <a:srgbClr val="EAD9D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96020"/>
          <a:ext cx="10547350" cy="1863328"/>
        </p:xfrm>
        <a:graphic>
          <a:graphicData uri="http://schemas.openxmlformats.org/drawingml/2006/table">
            <a:tbl>
              <a:tblPr/>
              <a:tblGrid>
                <a:gridCol w="4007993"/>
                <a:gridCol w="2320417"/>
                <a:gridCol w="2109470"/>
                <a:gridCol w="2109470"/>
              </a:tblGrid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EDE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Line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EDE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Combined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EDE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Elimination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EDE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Group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20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Total Revenue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$248,121.36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9C4F5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($7,118.28)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$241,003.08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Direct Case Costs (COGS)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$24,886.19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7A556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—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$24,886.19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Total Operating Expenses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$163,072.79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9C4F5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($7,118.28)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$155,954.51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7EDE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Operating Income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7EDE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$60,162.38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AC87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$0.00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AC87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$60,162.38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2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5975" y="3572073"/>
            <a:ext cx="5181600" cy="1320701"/>
          </a:xfrm>
          <a:prstGeom prst="roundRect">
            <a:avLst>
              <a:gd name="adj" fmla="val 7452"/>
            </a:avLst>
          </a:prstGeom>
          <a:solidFill>
            <a:srgbClr val="FFFCFB"/>
          </a:solidFill>
          <a:ln w="6350">
            <a:solidFill>
              <a:srgbClr val="EAD9D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2350" y="3778448"/>
            <a:ext cx="491191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A122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the elimination still matters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22350" y="4073079"/>
            <a:ext cx="4911916" cy="638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7A55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and expense are both overstated by $7,118.28 before it — enough to distort any margin-% or expense-ratio read, even though profit is untouched.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03950" y="3568898"/>
            <a:ext cx="5175250" cy="1327051"/>
          </a:xfrm>
          <a:prstGeom prst="roundRect">
            <a:avLst>
              <a:gd name="adj" fmla="val 7656"/>
            </a:avLst>
          </a:prstGeom>
          <a:solidFill>
            <a:srgbClr val="4A1220"/>
          </a:solidFill>
          <a:ln/>
        </p:spPr>
      </p:sp>
      <p:sp>
        <p:nvSpPr>
          <p:cNvPr id="10" name="Text 7"/>
          <p:cNvSpPr/>
          <p:nvPr/>
        </p:nvSpPr>
        <p:spPr>
          <a:xfrm>
            <a:off x="6407150" y="3772098"/>
            <a:ext cx="491191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Operating Income doesn't move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7150" y="4066729"/>
            <a:ext cx="4911916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DDBF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markup on the intercompany shared-services charge — HQ's revenue and the branches' expense cancel exactly at the Group level.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3A12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Advanced Excel &amp; Power Query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376025" y="1483320"/>
            <a:ext cx="0" cy="2680494"/>
          </a:xfrm>
          <a:prstGeom prst="line">
            <a:avLst/>
          </a:prstGeom>
          <a:noFill/>
          <a:ln w="6350">
            <a:solidFill>
              <a:srgbClr val="EAD9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" y="4160639"/>
            <a:ext cx="10566400" cy="0"/>
          </a:xfrm>
          <a:prstGeom prst="line">
            <a:avLst/>
          </a:prstGeom>
          <a:noFill/>
          <a:ln w="6350">
            <a:solidFill>
              <a:srgbClr val="EAD9D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96020"/>
          <a:ext cx="10547350" cy="2661444"/>
        </p:xfrm>
        <a:graphic>
          <a:graphicData uri="http://schemas.openxmlformats.org/drawingml/2006/table">
            <a:tbl>
              <a:tblPr/>
              <a:tblGrid>
                <a:gridCol w="2953258"/>
                <a:gridCol w="7594092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EDE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Tab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EDE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What it does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20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Close_Checklist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A556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Month-end close tasks, owners, due dates, live status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12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Trial_Balance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A556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Net movement by account, per office and combined — live SUMIFS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Bank_Reconciliation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A556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Book-to-bank tie-out per office, to the cent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Consolidation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A556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Group P&amp;L with the intercompany elimination worked through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Budget_vs_Actual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A556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Variance by office and account, ranked by overspend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A122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Dashboard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7A556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KPI tiles and trend charts, in this deck's brand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4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9C4F5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PQ_* tables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9C4F5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Raw ETL-landed data — nothing upstream of these is hardcoded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2800" y="4367014"/>
            <a:ext cx="10566400" cy="833041"/>
          </a:xfrm>
          <a:prstGeom prst="roundRect">
            <a:avLst>
              <a:gd name="adj" fmla="val 12196"/>
            </a:avLst>
          </a:prstGeom>
          <a:solidFill>
            <a:srgbClr val="4A1220"/>
          </a:solidFill>
          <a:ln/>
        </p:spPr>
      </p:sp>
      <p:pic>
        <p:nvPicPr>
          <p:cNvPr id="7" name="Image 0" descr="Settings">    </p:cNvPr>
          <p:cNvPicPr>
            <a:picLocks noChangeAspect="1"/>
          </p:cNvPicPr>
          <p:nvPr/>
        </p:nvPicPr>
        <p:blipFill>
          <a:blip r:embed="rId1"/>
          <a:srcRect l="-145" r="-145" t="0" b="0"/>
          <a:stretch/>
        </p:blipFill>
        <p:spPr>
          <a:xfrm>
            <a:off x="1016000" y="4643834"/>
            <a:ext cx="171946" cy="279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65746" y="4570214"/>
            <a:ext cx="1010456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Power Query combines the three offices' source exports, merges in the account dimension, and adds the calculated month key — documented as M code in power_query_steps.md, ready to re-run when next month's exports land.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5C1626"/>
              </a:gs>
              <a:gs pos="38000">
                <a:srgbClr val="4A1220"/>
              </a:gs>
              <a:gs pos="72000">
                <a:srgbClr val="2A0A14"/>
              </a:gs>
              <a:gs pos="100000">
                <a:srgbClr val="170509"/>
              </a:gs>
            </a:gsLst>
            <a:path path="circle">
              <a:fillToRect l="50000" t="30000" r="50000" b="7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522809"/>
            <a:ext cx="91567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7ED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project, every requirement in the brief</a:t>
            </a:r>
            <a:endParaRPr lang="en-US" sz="4000" dirty="0"/>
          </a:p>
        </p:txBody>
      </p:sp>
      <p:pic>
        <p:nvPicPr>
          <p:cNvPr id="4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3018830"/>
            <a:ext cx="203200" cy="20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996009"/>
            <a:ext cx="63007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full close cycle across three offices — accounting, audit, controlling, FP&amp;A</a:t>
            </a:r>
            <a:endParaRPr lang="en-US" sz="1400" dirty="0"/>
          </a:p>
        </p:txBody>
      </p:sp>
      <p:pic>
        <p:nvPicPr>
          <p:cNvPr id="6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3407420"/>
            <a:ext cx="203200" cy="20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3384600"/>
            <a:ext cx="659297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Bank reconciliation, a close checklist, and Group consolidation with elimination</a:t>
            </a:r>
            <a:endParaRPr lang="en-US" sz="1400" dirty="0"/>
          </a:p>
        </p:txBody>
      </p:sp>
      <p:pic>
        <p:nvPicPr>
          <p:cNvPr id="8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3796010"/>
            <a:ext cx="203200" cy="203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3773190"/>
            <a:ext cx="62520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SQL — joins, aggregation, window functions, and a recursive CTE, all tested</a:t>
            </a:r>
            <a:endParaRPr lang="en-US" sz="1400" dirty="0"/>
          </a:p>
        </p:txBody>
      </p:sp>
      <p:pic>
        <p:nvPicPr>
          <p:cNvPr id="10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4184600"/>
            <a:ext cx="203200" cy="203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43000" y="4161780"/>
            <a:ext cx="442679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Advanced Excel with a documented Power Query ETL</a:t>
            </a:r>
            <a:endParaRPr lang="en-US" sz="1400" dirty="0"/>
          </a:p>
        </p:txBody>
      </p:sp>
      <p:pic>
        <p:nvPicPr>
          <p:cNvPr id="12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800" y="4573191"/>
            <a:ext cx="203200" cy="2032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43000" y="4550370"/>
            <a:ext cx="517358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EDE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star schema with grain and keys documented on every table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812800" y="5213251"/>
            <a:ext cx="406400" cy="12700"/>
          </a:xfrm>
          <a:prstGeom prst="rect">
            <a:avLst/>
          </a:prstGeom>
          <a:solidFill>
            <a:srgbClr val="5C3540"/>
          </a:solidFill>
          <a:ln/>
        </p:spPr>
      </p:sp>
      <p:sp>
        <p:nvSpPr>
          <p:cNvPr id="15" name="Text 8"/>
          <p:cNvSpPr/>
          <p:nvPr/>
        </p:nvSpPr>
        <p:spPr>
          <a:xfrm>
            <a:off x="1346200" y="5104061"/>
            <a:ext cx="509024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98F9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Anna Pauseiro — Data &amp; Audit Analyst · anna.pauseiro@gmail.com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P&amp;V Legal Group — Multi-Office Consolidation</dc:title>
  <dc:subject>PptxGenJS Presentation</dc:subject>
  <dc:creator>PptxGenJS</dc:creator>
  <cp:lastModifiedBy>PptxGenJS</cp:lastModifiedBy>
  <cp:revision>1</cp:revision>
  <dcterms:created xsi:type="dcterms:W3CDTF">2026-09-25T10:44:16Z</dcterms:created>
  <dcterms:modified xsi:type="dcterms:W3CDTF">2026-09-25T10:44:16Z</dcterms:modified>
</cp:coreProperties>
</file>